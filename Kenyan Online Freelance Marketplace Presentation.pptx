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69" r:id="rId5"/>
    <p:sldId id="270" r:id="rId6"/>
    <p:sldId id="257" r:id="rId7"/>
    <p:sldId id="258" r:id="rId8"/>
    <p:sldId id="259" r:id="rId9"/>
    <p:sldId id="261" r:id="rId10"/>
    <p:sldId id="262" r:id="rId11"/>
    <p:sldId id="263" r:id="rId12"/>
    <p:sldId id="271" r:id="rId13"/>
    <p:sldId id="264" r:id="rId14"/>
    <p:sldId id="265" r:id="rId15"/>
    <p:sldId id="266" r:id="rId16"/>
    <p:sldId id="268" r:id="rId17"/>
  </p:sldIdLst>
  <p:sldSz cx="9144000" cy="5143500"/>
  <p:notesSz cx="6858000" cy="9144000"/>
  <p:embeddedFontLst>
    <p:embeddedFont>
      <p:font typeface="Raleway" charset="0"/>
      <p:regular r:id="rId21"/>
      <p:bold r:id="rId22"/>
      <p:italic r:id="rId23"/>
      <p:boldItalic r:id="rId24"/>
    </p:embeddedFont>
    <p:embeddedFont>
      <p:font typeface="Lato"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g13591ee69d2_0_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3591ee69d2_0_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 Kenya, we have large numbers of professionals complaining that they cannot get jobs. These professionals are graduating with skills in software development, writing, data entry, design, sciences, sales and marketing, accounting, legal services, etc. They, however, struggle to get started and gain experience in such high-in-demand industries. It is because the jobs require experience and they require jobs to get experience. Companies also claim that they are struggling to find skilled professionals. (Roussi and Financial Times, 2021) We have multiple companies and organisations that need the abovementioned professionals but are afraid of making long term commitments with individuals without sufficient experience due to legal risk and the cost of managing human capital. To overcome these problems, a freelancing marketplace can be used. It will connect talented individuals with economic opportunities and help organisations cut down on the cost of managing human capital by getting individuals to work for them on a short-term basis. This is already being used in Europe and in the USA wherein 2019, an MBO Partners’ survey found that nearly 41.1 million Americans identified themselves as freelancers, whether it was a few hours a month or a full-time arrangement. To break that down a little further, nearly 15 million workers claimed to be part-time freelancers, and 12.4 million called themselves full-time freelancers! (MBO Partners, 2019)</a:t>
            </a:r>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g13591ee69d2_0_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3591ee69d2_0_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g13591ee69d2_0_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3591ee69d2_0_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g13591ee69d2_0_10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3591ee69d2_0_10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g13591ee69d2_0_1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3591ee69d2_0_1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g13591ee69d2_0_1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3591ee69d2_0_1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g13591ee69d2_0_1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13591ee69d2_0_1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g13591ee69d2_0_1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3591ee69d2_0_1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g13591ee69d2_0_1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3591ee69d2_0_1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13591ee69d2_0_14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13591ee69d2_0_14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4;p2"/>
          <p:cNvSpPr txBox="1"/>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 name="Google Shape;21;p3"/>
          <p:cNvSpPr txBox="1"/>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8" name="Google Shape;28;p4"/>
          <p:cNvSpPr txBox="1"/>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0" name="Google Shape;30;p4"/>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36;p5"/>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8" name="Google Shape;38;p5"/>
          <p:cNvSpPr txBox="1"/>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9" name="Google Shape;39;p5"/>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 name="Google Shape;45;p6"/>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2" name="Google Shape;52;p7"/>
          <p:cNvSpPr txBox="1"/>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54" name="Google Shape;54;p7"/>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Google Shape;59;p8"/>
          <p:cNvSpPr txBox="1"/>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6" name="Google Shape;66;p9"/>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9" name="Google Shape;69;p9"/>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p:txBody>
      </p:sp>
      <p:sp>
        <p:nvSpPr>
          <p:cNvPr id="72" name="Google Shape;72;p10"/>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7" name="Google Shape;77;p11"/>
          <p:cNvSpPr txBox="1"/>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sp>
        <p:nvSpPr>
          <p:cNvPr id="86" name="Google Shape;86;p13"/>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ltLang="en-GB"/>
              <a:t>A </a:t>
            </a:r>
            <a:r>
              <a:rPr lang="en-GB"/>
              <a:t>Kenyan Online Freelance Marketplace</a:t>
            </a:r>
            <a:endParaRPr lang="en-GB"/>
          </a:p>
        </p:txBody>
      </p:sp>
      <p:sp>
        <p:nvSpPr>
          <p:cNvPr id="88" name="Google Shape;88;p13"/>
          <p:cNvSpPr txBox="1"/>
          <p:nvPr>
            <p:ph type="body" idx="2"/>
          </p:nvPr>
        </p:nvSpPr>
        <p:spPr>
          <a:xfrm>
            <a:off x="5184750" y="3161525"/>
            <a:ext cx="3374400" cy="531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GB" sz="1800"/>
              <a:t>A </a:t>
            </a:r>
            <a:r>
              <a:rPr lang="en-US" altLang="en-GB" sz="1800"/>
              <a:t>web-based </a:t>
            </a:r>
            <a:r>
              <a:rPr lang="en-GB" sz="1800"/>
              <a:t>project submitted in fulfilment of the requirements for the award of </a:t>
            </a:r>
            <a:r>
              <a:rPr lang="en-US" altLang="en-GB" sz="1800"/>
              <a:t>Computer Technology systems Project</a:t>
            </a:r>
            <a:endParaRPr lang="en-US" altLang="en-GB" sz="1800"/>
          </a:p>
        </p:txBody>
      </p:sp>
      <p:sp>
        <p:nvSpPr>
          <p:cNvPr id="2" name="Subtitle 1"/>
          <p:cNvSpPr/>
          <p:nvPr>
            <p:ph type="subTitle" idx="1"/>
          </p:nvPr>
        </p:nvSpPr>
        <p:spPr>
          <a:xfrm>
            <a:off x="725170" y="2898775"/>
            <a:ext cx="3300730" cy="1021715"/>
          </a:xfrm>
        </p:spPr>
        <p:txBody>
          <a:bodyPr/>
          <a:p>
            <a:r>
              <a:rPr lang="en-US"/>
              <a:t>WILSON GICHUHI</a:t>
            </a:r>
            <a:endParaRPr lang="en-US"/>
          </a:p>
          <a:p>
            <a:r>
              <a:rPr lang="en-US"/>
              <a:t>SCT212-0043/2018</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pPr marL="0" indent="0" algn="l"/>
            <a:r>
              <a:rPr lang="en-US"/>
              <a:t>Review of related systems</a:t>
            </a:r>
            <a:endParaRPr lang="en-US"/>
          </a:p>
        </p:txBody>
      </p:sp>
      <p:sp>
        <p:nvSpPr>
          <p:cNvPr id="3" name="Text Placeholder 2"/>
          <p:cNvSpPr/>
          <p:nvPr>
            <p:ph type="body" idx="1"/>
          </p:nvPr>
        </p:nvSpPr>
        <p:spPr/>
        <p:txBody>
          <a:bodyPr>
            <a:normAutofit fontScale="80000"/>
          </a:bodyPr>
          <a:p>
            <a:r>
              <a:rPr lang="en-US"/>
              <a:t>Upwork - a platform that lets you find your next favourite freelancer by either searching for candidates on the site orposting a job</a:t>
            </a:r>
            <a:endParaRPr lang="en-US"/>
          </a:p>
          <a:p>
            <a:r>
              <a:rPr lang="en-US"/>
              <a:t>Toptal- is a professional freelancing marketplace focusing on software engineering.</a:t>
            </a:r>
            <a:endParaRPr lang="en-US"/>
          </a:p>
          <a:p>
            <a:r>
              <a:rPr lang="en-US"/>
              <a:t>Fiverr </a:t>
            </a:r>
            <a:endParaRPr lang="en-US"/>
          </a:p>
          <a:p>
            <a:endParaRPr lang="en-US"/>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freelance"/>
          <p:cNvPicPr>
            <a:picLocks noChangeAspect="1"/>
          </p:cNvPicPr>
          <p:nvPr/>
        </p:nvPicPr>
        <p:blipFill>
          <a:blip r:embed="rId1"/>
          <a:stretch>
            <a:fillRect/>
          </a:stretch>
        </p:blipFill>
        <p:spPr>
          <a:xfrm>
            <a:off x="1107440" y="0"/>
            <a:ext cx="692912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14"/>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2</a:t>
            </a:r>
            <a:r>
              <a:rPr lang="en-GB"/>
              <a:t>. </a:t>
            </a:r>
            <a:r>
              <a:rPr lang="en-GB"/>
              <a:t>Background of research</a:t>
            </a:r>
            <a:endParaRPr lang="en-GB"/>
          </a:p>
        </p:txBody>
      </p:sp>
      <p:sp>
        <p:nvSpPr>
          <p:cNvPr id="95" name="Google Shape;95;p14"/>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In Kenya, we have large numbers of professionals complaining that they </a:t>
            </a:r>
            <a:r>
              <a:rPr lang="en-GB" b="1"/>
              <a:t>cannot get jobs</a:t>
            </a:r>
            <a:r>
              <a:rPr lang="en-GB"/>
              <a:t>. </a:t>
            </a:r>
            <a:endParaRPr lang="en-GB"/>
          </a:p>
          <a:p>
            <a:pPr marL="457200" lvl="0" indent="-311150" algn="l" rtl="0">
              <a:spcBef>
                <a:spcPts val="0"/>
              </a:spcBef>
              <a:spcAft>
                <a:spcPts val="0"/>
              </a:spcAft>
              <a:buSzPts val="1300"/>
              <a:buChar char="●"/>
            </a:pPr>
            <a:r>
              <a:rPr lang="en-GB"/>
              <a:t>Companies also claim that they are</a:t>
            </a:r>
            <a:r>
              <a:rPr lang="en-GB" b="1"/>
              <a:t> struggling to find skilled professionals</a:t>
            </a:r>
            <a:r>
              <a:rPr lang="en-GB"/>
              <a:t>. They need the above mentioned professionals but are afraid of making long term commitments with individuals without sufficient experience </a:t>
            </a:r>
            <a:r>
              <a:rPr lang="en-US" altLang="en-GB"/>
              <a:t>and also the</a:t>
            </a:r>
            <a:r>
              <a:rPr lang="en-GB"/>
              <a:t> cost of managing human capital. .</a:t>
            </a:r>
            <a:endParaRPr lang="en-GB"/>
          </a:p>
          <a:p>
            <a:pPr marL="457200" lvl="0" indent="-311150" algn="l" rtl="0">
              <a:spcBef>
                <a:spcPts val="0"/>
              </a:spcBef>
              <a:spcAft>
                <a:spcPts val="0"/>
              </a:spcAft>
              <a:buSzPts val="1300"/>
              <a:buChar char="●"/>
            </a:pPr>
            <a:r>
              <a:rPr lang="en-GB"/>
              <a:t>To overcome this problem, a </a:t>
            </a:r>
            <a:r>
              <a:rPr lang="en-GB" b="1"/>
              <a:t>freelancing marketplace</a:t>
            </a:r>
            <a:r>
              <a:rPr lang="en-GB"/>
              <a:t> can be used. It will connect talented individuals with economic opportunities and help organisations cut down on the cost of managing human capital by getting </a:t>
            </a:r>
            <a:r>
              <a:rPr lang="en-GB"/>
              <a:t>professionals </a:t>
            </a:r>
            <a:r>
              <a:rPr lang="en-GB"/>
              <a:t>to work for them on a short-term basis.</a:t>
            </a: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3</a:t>
            </a:r>
            <a:r>
              <a:rPr lang="en-GB"/>
              <a:t>. </a:t>
            </a:r>
            <a:r>
              <a:rPr lang="en-GB"/>
              <a:t>Problem statement</a:t>
            </a:r>
            <a:endParaRPr lang="en-GB"/>
          </a:p>
        </p:txBody>
      </p:sp>
      <p:sp>
        <p:nvSpPr>
          <p:cNvPr id="101" name="Google Shape;101;p15"/>
          <p:cNvSpPr txBox="1"/>
          <p:nvPr>
            <p:ph type="body" idx="1"/>
          </p:nvPr>
        </p:nvSpPr>
        <p:spPr>
          <a:xfrm>
            <a:off x="729450" y="2078875"/>
            <a:ext cx="7688700" cy="300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We have a huge number of professionals graduating with high in-demand skills. They, however, struggle to get started and gain experience in these industries. Jobs require experience and they require jobs to get experience. The technology used in the hiring and selection process is not optimised to showcase their potential. It majorly focuses on experience. </a:t>
            </a:r>
            <a:br>
              <a:rPr lang="en-GB"/>
            </a:br>
            <a:endParaRPr lang="en-GB"/>
          </a:p>
          <a:p>
            <a:pPr marL="0" lvl="0" indent="0" algn="l" rtl="0">
              <a:spcBef>
                <a:spcPts val="1200"/>
              </a:spcBef>
              <a:spcAft>
                <a:spcPts val="1200"/>
              </a:spcAft>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ltLang="en-GB"/>
              <a:t>4</a:t>
            </a:r>
            <a:r>
              <a:rPr lang="en-GB"/>
              <a:t>. </a:t>
            </a:r>
            <a:r>
              <a:rPr lang="en-GB"/>
              <a:t>Aim of research</a:t>
            </a:r>
            <a:endParaRPr lang="en-GB"/>
          </a:p>
        </p:txBody>
      </p:sp>
      <p:sp>
        <p:nvSpPr>
          <p:cNvPr id="107" name="Google Shape;107;p16"/>
          <p:cNvSpPr txBox="1"/>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Create a digital freelancing marketplace that will connect talented professionals with economic opportunities and give organisations access to affordable and low-risk human capital.</a:t>
            </a:r>
            <a:endParaRPr lang="en-GB"/>
          </a:p>
        </p:txBody>
      </p:sp>
      <p:sp>
        <p:nvSpPr>
          <p:cNvPr id="108" name="Google Shape;108;p16"/>
          <p:cNvSpPr txBox="1"/>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t>State of the art: Freelance and outsourcing in Kenya</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1318650"/>
            <a:ext cx="76884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5</a:t>
            </a:r>
            <a:r>
              <a:rPr lang="en-GB"/>
              <a:t>. </a:t>
            </a:r>
            <a:r>
              <a:rPr lang="en-GB"/>
              <a:t>Scope of the research</a:t>
            </a:r>
            <a:endParaRPr lang="en-GB"/>
          </a:p>
        </p:txBody>
      </p:sp>
      <p:sp>
        <p:nvSpPr>
          <p:cNvPr id="120" name="Google Shape;120;p18"/>
          <p:cNvSpPr txBox="1"/>
          <p:nvPr>
            <p:ph type="body" idx="1"/>
          </p:nvPr>
        </p:nvSpPr>
        <p:spPr>
          <a:xfrm>
            <a:off x="729325" y="2078875"/>
            <a:ext cx="3774300" cy="22611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GB"/>
              <a:t>1. Allow freelancers to have online profiles. </a:t>
            </a:r>
            <a:endParaRPr lang="en-GB"/>
          </a:p>
          <a:p>
            <a:pPr marL="0" lvl="0" indent="0" algn="l" rtl="0">
              <a:spcBef>
                <a:spcPts val="1200"/>
              </a:spcBef>
              <a:spcAft>
                <a:spcPts val="0"/>
              </a:spcAft>
              <a:buNone/>
            </a:pPr>
            <a:r>
              <a:rPr lang="en-GB"/>
              <a:t>2. Allow freelancers to be paid via easy methods like M-Pesa. </a:t>
            </a:r>
            <a:endParaRPr lang="en-GB"/>
          </a:p>
          <a:p>
            <a:pPr marL="0" lvl="0" indent="0" algn="l" rtl="0">
              <a:spcBef>
                <a:spcPts val="1200"/>
              </a:spcBef>
              <a:spcAft>
                <a:spcPts val="0"/>
              </a:spcAft>
              <a:buNone/>
            </a:pPr>
            <a:r>
              <a:rPr lang="en-GB"/>
              <a:t>3. Money to be held in escrow to help in preventing fraud. </a:t>
            </a:r>
            <a:endParaRPr lang="en-GB"/>
          </a:p>
          <a:p>
            <a:pPr marL="0" lvl="0" indent="0" algn="l" rtl="0">
              <a:spcBef>
                <a:spcPts val="1200"/>
              </a:spcBef>
              <a:spcAft>
                <a:spcPts val="0"/>
              </a:spcAft>
              <a:buNone/>
            </a:pPr>
            <a:r>
              <a:rPr lang="en-GB"/>
              <a:t>4. Allow companies, organisations and individuals (job posters) to post jobs. </a:t>
            </a:r>
            <a:endParaRPr lang="en-GB"/>
          </a:p>
          <a:p>
            <a:pPr marL="0" lvl="0" indent="0" algn="l" rtl="0">
              <a:spcBef>
                <a:spcPts val="1200"/>
              </a:spcBef>
              <a:spcAft>
                <a:spcPts val="1200"/>
              </a:spcAft>
              <a:buNone/>
            </a:pPr>
            <a:r>
              <a:rPr lang="en-GB"/>
              <a:t>5. Allow the job posters to receive bids on the job from qualified freelancers. </a:t>
            </a:r>
            <a:endParaRPr lang="en-GB"/>
          </a:p>
        </p:txBody>
      </p:sp>
      <p:sp>
        <p:nvSpPr>
          <p:cNvPr id="121" name="Google Shape;121;p18"/>
          <p:cNvSpPr txBox="1"/>
          <p:nvPr>
            <p:ph type="body" idx="2"/>
          </p:nvPr>
        </p:nvSpPr>
        <p:spPr>
          <a:xfrm>
            <a:off x="4643600" y="2078875"/>
            <a:ext cx="3774300" cy="2778000"/>
          </a:xfrm>
          <a:prstGeom prst="rect">
            <a:avLst/>
          </a:prstGeom>
        </p:spPr>
        <p:txBody>
          <a:bodyPr spcFirstLastPara="1" wrap="square" lIns="91425" tIns="91425" rIns="91425" bIns="91425" anchor="t" anchorCtr="0">
            <a:normAutofit fontScale="77500" lnSpcReduction="10000"/>
          </a:bodyPr>
          <a:lstStyle/>
          <a:p>
            <a:pPr marL="0" lvl="0" indent="0" algn="l" rtl="0">
              <a:spcBef>
                <a:spcPts val="0"/>
              </a:spcBef>
              <a:spcAft>
                <a:spcPts val="0"/>
              </a:spcAft>
              <a:buNone/>
            </a:pPr>
            <a:r>
              <a:rPr lang="en-GB"/>
              <a:t>6. Allow the job posters to review freelancer profiles to help them with the selection. </a:t>
            </a:r>
            <a:endParaRPr lang="en-GB"/>
          </a:p>
          <a:p>
            <a:pPr marL="0" lvl="0" indent="0" algn="l" rtl="0">
              <a:spcBef>
                <a:spcPts val="1200"/>
              </a:spcBef>
              <a:spcAft>
                <a:spcPts val="0"/>
              </a:spcAft>
              <a:buNone/>
            </a:pPr>
            <a:r>
              <a:rPr lang="en-GB"/>
              <a:t>7. After being given a job freelancers work then submit when done. The client has the right to reject/approve the work. </a:t>
            </a:r>
            <a:endParaRPr lang="en-GB"/>
          </a:p>
          <a:p>
            <a:pPr marL="0" lvl="0" indent="0" algn="l" rtl="0">
              <a:spcBef>
                <a:spcPts val="1200"/>
              </a:spcBef>
              <a:spcAft>
                <a:spcPts val="0"/>
              </a:spcAft>
              <a:buNone/>
            </a:pPr>
            <a:r>
              <a:rPr lang="en-GB"/>
              <a:t>8. Ratings and reviews for both clients and freelancers after jobs. </a:t>
            </a:r>
            <a:endParaRPr lang="en-GB"/>
          </a:p>
          <a:p>
            <a:pPr marL="0" lvl="0" indent="0" algn="l" rtl="0">
              <a:spcBef>
                <a:spcPts val="1200"/>
              </a:spcBef>
              <a:spcAft>
                <a:spcPts val="0"/>
              </a:spcAft>
              <a:buNone/>
            </a:pPr>
            <a:r>
              <a:rPr lang="en-GB"/>
              <a:t>9. Notifications. The system should be able to notify the freelancers and job posters of actions that require their attention. </a:t>
            </a:r>
            <a:endParaRPr lang="en-GB"/>
          </a:p>
          <a:p>
            <a:pPr marL="0" lvl="0" indent="0" algn="l" rtl="0">
              <a:spcBef>
                <a:spcPts val="1200"/>
              </a:spcBef>
              <a:spcAft>
                <a:spcPts val="1200"/>
              </a:spcAft>
              <a:buNone/>
            </a:pPr>
            <a:r>
              <a:rPr lang="en-GB"/>
              <a:t>10. Admin section and generation of reports. There should be an admin app that can be used to manage customers, freelancers and postings. There will be reports like jobs posted, user logs, etc.</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6</a:t>
            </a:r>
            <a:r>
              <a:rPr lang="en-GB"/>
              <a:t>. </a:t>
            </a:r>
            <a:r>
              <a:rPr lang="en-US" altLang="en-GB"/>
              <a:t>Implementation</a:t>
            </a:r>
            <a:endParaRPr lang="en-US" altLang="en-GB"/>
          </a:p>
        </p:txBody>
      </p:sp>
      <p:sp>
        <p:nvSpPr>
          <p:cNvPr id="127" name="Google Shape;127;p19"/>
          <p:cNvSpPr txBox="1"/>
          <p:nvPr>
            <p:ph type="body" idx="1"/>
          </p:nvPr>
        </p:nvSpPr>
        <p:spPr>
          <a:xfrm>
            <a:off x="729450" y="2078875"/>
            <a:ext cx="7688700" cy="256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ltLang="en-GB"/>
              <a:t>I </a:t>
            </a:r>
            <a:r>
              <a:rPr lang="en-GB"/>
              <a:t>will go through materials </a:t>
            </a:r>
            <a:r>
              <a:rPr lang="en-US" altLang="en-GB"/>
              <a:t>of </a:t>
            </a:r>
            <a:r>
              <a:rPr lang="en-GB"/>
              <a:t>recent research on such systems as well as an overview of other similar </a:t>
            </a:r>
            <a:r>
              <a:rPr lang="en-US" altLang="en-GB"/>
              <a:t>products.</a:t>
            </a:r>
            <a:endParaRPr lang="en-GB"/>
          </a:p>
          <a:p>
            <a:pPr marL="0" lvl="0" indent="0" algn="l" rtl="0">
              <a:spcBef>
                <a:spcPts val="1200"/>
              </a:spcBef>
              <a:spcAft>
                <a:spcPts val="0"/>
              </a:spcAft>
              <a:buNone/>
            </a:pPr>
            <a:r>
              <a:rPr lang="en-US" altLang="en-GB"/>
              <a:t>Final draft will include s</a:t>
            </a:r>
            <a:r>
              <a:rPr lang="en-GB"/>
              <a:t>ystem analysis wi</a:t>
            </a:r>
            <a:r>
              <a:rPr lang="en-US" altLang="en-GB"/>
              <a:t>th</a:t>
            </a:r>
            <a:r>
              <a:rPr lang="en-GB"/>
              <a:t> Diagrams and Flow charts. </a:t>
            </a:r>
            <a:r>
              <a:rPr lang="en-US" altLang="en-GB"/>
              <a:t>I will</a:t>
            </a:r>
            <a:r>
              <a:rPr lang="en-GB"/>
              <a:t> also use ERD diagrams</a:t>
            </a:r>
            <a:r>
              <a:rPr lang="en-US" altLang="en-GB"/>
              <a:t> and </a:t>
            </a:r>
            <a:r>
              <a:rPr lang="en-GB"/>
              <a:t>Use case diagrams for the system design.</a:t>
            </a:r>
            <a:endParaRPr lang="en-GB"/>
          </a:p>
          <a:p>
            <a:pPr marL="0" lvl="0" indent="0" algn="l" rtl="0">
              <a:spcBef>
                <a:spcPts val="1200"/>
              </a:spcBef>
              <a:spcAft>
                <a:spcPts val="0"/>
              </a:spcAft>
              <a:buNone/>
            </a:pPr>
            <a:r>
              <a:rPr lang="en-GB"/>
              <a:t>The system will be implemented using various technologies like PHP, HTML, CSS, JavaScript and MySQL.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7</a:t>
            </a:r>
            <a:r>
              <a:rPr lang="en-GB"/>
              <a:t>. </a:t>
            </a:r>
            <a:r>
              <a:rPr lang="en-US" altLang="en-GB"/>
              <a:t>Functional Requirements</a:t>
            </a:r>
            <a:endParaRPr lang="en-US" altLang="en-GB"/>
          </a:p>
        </p:txBody>
      </p:sp>
      <p:sp>
        <p:nvSpPr>
          <p:cNvPr id="133" name="Google Shape;133;p20"/>
          <p:cNvSpPr txBox="1"/>
          <p:nvPr>
            <p:ph type="body" idx="1"/>
          </p:nvPr>
        </p:nvSpPr>
        <p:spPr>
          <a:xfrm>
            <a:off x="729450" y="2078875"/>
            <a:ext cx="7688700" cy="27105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en-US"/>
              <a:t>1. User Login, Register, or update profiles and passwords</a:t>
            </a:r>
            <a:endParaRPr lang="en-US"/>
          </a:p>
          <a:p>
            <a:pPr marL="0" lvl="0" indent="0" algn="l" rtl="0">
              <a:spcBef>
                <a:spcPts val="1200"/>
              </a:spcBef>
              <a:spcAft>
                <a:spcPts val="1200"/>
              </a:spcAft>
              <a:buNone/>
            </a:pPr>
            <a:r>
              <a:rPr lang="en-US"/>
              <a:t>2. Register as a client or Freelancer</a:t>
            </a:r>
            <a:endParaRPr lang="en-US"/>
          </a:p>
          <a:p>
            <a:pPr marL="0" lvl="0" indent="0" algn="l" rtl="0">
              <a:spcBef>
                <a:spcPts val="1200"/>
              </a:spcBef>
              <a:spcAft>
                <a:spcPts val="1200"/>
              </a:spcAft>
              <a:buNone/>
            </a:pPr>
            <a:r>
              <a:rPr lang="en-US"/>
              <a:t>3. Create and Select Job by categories</a:t>
            </a:r>
            <a:endParaRPr lang="en-US"/>
          </a:p>
          <a:p>
            <a:pPr marL="0" lvl="0" indent="0" algn="l" rtl="0">
              <a:spcBef>
                <a:spcPts val="1200"/>
              </a:spcBef>
              <a:spcAft>
                <a:spcPts val="1200"/>
              </a:spcAft>
              <a:buNone/>
            </a:pPr>
            <a:r>
              <a:rPr lang="en-US"/>
              <a:t>4. Handle payments, ratings, and refunds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t>8. Non functional Requirements</a:t>
            </a:r>
            <a:endParaRPr lang="en-US"/>
          </a:p>
        </p:txBody>
      </p:sp>
      <p:sp>
        <p:nvSpPr>
          <p:cNvPr id="3" name="Text Placeholder 2"/>
          <p:cNvSpPr/>
          <p:nvPr>
            <p:ph type="body" idx="1"/>
          </p:nvPr>
        </p:nvSpPr>
        <p:spPr/>
        <p:txBody>
          <a:bodyPr>
            <a:normAutofit lnSpcReduction="20000"/>
          </a:bodyPr>
          <a:p>
            <a:pPr marL="146050" indent="0">
              <a:buNone/>
            </a:pPr>
            <a:r>
              <a:rPr lang="en-US"/>
              <a:t>1. Speedy performance - client side caching</a:t>
            </a:r>
            <a:endParaRPr lang="en-US"/>
          </a:p>
          <a:p>
            <a:pPr marL="146050" indent="0">
              <a:buNone/>
            </a:pPr>
            <a:endParaRPr lang="en-US"/>
          </a:p>
          <a:p>
            <a:pPr marL="146050" indent="0">
              <a:buNone/>
            </a:pPr>
            <a:r>
              <a:rPr lang="en-US"/>
              <a:t>2. Maintanable application - Dockirized and automated release pipelines</a:t>
            </a:r>
            <a:endParaRPr lang="en-US"/>
          </a:p>
          <a:p>
            <a:pPr marL="146050" indent="0">
              <a:buNone/>
            </a:pPr>
            <a:endParaRPr lang="en-US"/>
          </a:p>
          <a:p>
            <a:pPr marL="146050" indent="0">
              <a:buNone/>
            </a:pPr>
            <a:r>
              <a:rPr lang="en-US"/>
              <a:t>3. Automatic disaster recovery, backup plans and procedures must be introduced to ensure</a:t>
            </a:r>
            <a:endParaRPr lang="en-US"/>
          </a:p>
          <a:p>
            <a:pPr marL="146050" indent="0">
              <a:buNone/>
            </a:pPr>
            <a:r>
              <a:rPr lang="en-US"/>
              <a:t>reliability(DB Backups scheduled).</a:t>
            </a:r>
            <a:endParaRPr lang="en-US"/>
          </a:p>
          <a:p>
            <a:pPr marL="146050" indent="0">
              <a:buNone/>
            </a:pPr>
            <a:endParaRPr lang="en-US"/>
          </a:p>
          <a:p>
            <a:pPr marL="146050" indent="0">
              <a:buNone/>
            </a:pPr>
            <a:r>
              <a:rPr lang="en-US"/>
              <a:t>4. Security – All passwords are hashed; clients, admins and freelancers all have different</a:t>
            </a:r>
            <a:endParaRPr lang="en-US"/>
          </a:p>
          <a:p>
            <a:pPr marL="146050" indent="0">
              <a:buNone/>
            </a:pPr>
            <a:r>
              <a:rPr lang="en-US"/>
              <a:t>dashboards with different permissions; all user input should be verified and validated, and users</a:t>
            </a:r>
            <a:endParaRPr lang="en-US"/>
          </a:p>
          <a:p>
            <a:pPr marL="146050" indent="0">
              <a:buNone/>
            </a:pPr>
            <a:r>
              <a:rPr lang="en-US"/>
              <a:t>should be notified if any problems are identified while using the system.</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9</a:t>
            </a:r>
            <a:r>
              <a:rPr lang="en-GB"/>
              <a:t>. </a:t>
            </a:r>
            <a:r>
              <a:rPr lang="en-GB"/>
              <a:t>Database Design</a:t>
            </a:r>
            <a:endParaRPr lang="en-GB"/>
          </a:p>
        </p:txBody>
      </p:sp>
      <p:sp>
        <p:nvSpPr>
          <p:cNvPr id="139" name="Google Shape;139;p21"/>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i="1"/>
              <a:t>This was done with the help of an </a:t>
            </a:r>
            <a:r>
              <a:rPr lang="en-GB" i="1"/>
              <a:t>ERD diagram that is in next slide.</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pic>
        <p:nvPicPr>
          <p:cNvPr id="144" name="Google Shape;144;p22"/>
          <p:cNvPicPr preferRelativeResize="0"/>
          <p:nvPr/>
        </p:nvPicPr>
        <p:blipFill rotWithShape="1">
          <a:blip r:embed="rId1"/>
          <a:srcRect l="651" r="661"/>
          <a:stretch>
            <a:fillRect/>
          </a:stretch>
        </p:blipFill>
        <p:spPr>
          <a:xfrm>
            <a:off x="1037950" y="0"/>
            <a:ext cx="7068099" cy="51721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en-GB"/>
              <a:t>10</a:t>
            </a:r>
            <a:r>
              <a:rPr lang="en-GB"/>
              <a:t>. C</a:t>
            </a:r>
            <a:r>
              <a:rPr lang="en-GB"/>
              <a:t>onclusion</a:t>
            </a:r>
            <a:endParaRPr lang="en-GB"/>
          </a:p>
        </p:txBody>
      </p:sp>
      <p:sp>
        <p:nvSpPr>
          <p:cNvPr id="150" name="Google Shape;150;p23"/>
          <p:cNvSpPr txBox="1"/>
          <p:nvPr>
            <p:ph type="body" idx="1"/>
          </p:nvPr>
        </p:nvSpPr>
        <p:spPr>
          <a:xfrm>
            <a:off x="729450" y="2078875"/>
            <a:ext cx="7688700" cy="22611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GB"/>
              <a:t>Clients and freelancers can now with a click of a few buttons and browser interactions join a platform that truly works towards achieving a goal of connecting talented professionals with economic opportunities and giving organisations access to affordable and low-risk human capital.</a:t>
            </a:r>
            <a:endParaRPr lang="en-GB"/>
          </a:p>
          <a:p>
            <a:pPr marL="0" lvl="0" indent="0" algn="l" rtl="0">
              <a:spcBef>
                <a:spcPts val="1200"/>
              </a:spcBef>
              <a:spcAft>
                <a:spcPts val="0"/>
              </a:spcAft>
              <a:buNone/>
            </a:pPr>
            <a:r>
              <a:rPr lang="en-GB"/>
              <a:t>People can now utilize their skillset and make a living out of them, dependent on how well they advance in the freelance community.</a:t>
            </a:r>
            <a:endParaRPr lang="en-GB"/>
          </a:p>
          <a:p>
            <a:pPr marL="0" lvl="0" indent="0" algn="l" rtl="0">
              <a:spcBef>
                <a:spcPts val="1200"/>
              </a:spcBef>
              <a:spcAft>
                <a:spcPts val="0"/>
              </a:spcAft>
              <a:buNone/>
            </a:pPr>
            <a:r>
              <a:rPr lang="en-GB"/>
              <a:t>Organizations on the other hand have a huge pool of competent individuals willing to put in the work, and support them as if they were employed by them.</a:t>
            </a:r>
            <a:endParaRPr lang="en-GB"/>
          </a:p>
          <a:p>
            <a:pPr marL="0" lvl="0" indent="0" algn="l" rtl="0">
              <a:spcBef>
                <a:spcPts val="1200"/>
              </a:spcBef>
              <a:spcAft>
                <a:spcPts val="1200"/>
              </a:spcAft>
              <a:buNone/>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729450" y="1318650"/>
            <a:ext cx="76884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1</a:t>
            </a:r>
            <a:r>
              <a:rPr lang="en-US" altLang="en-GB"/>
              <a:t>1</a:t>
            </a:r>
            <a:r>
              <a:rPr lang="en-GB"/>
              <a:t>. F</a:t>
            </a:r>
            <a:r>
              <a:rPr lang="en-GB"/>
              <a:t>uture recommendations</a:t>
            </a:r>
            <a:endParaRPr lang="en-GB"/>
          </a:p>
        </p:txBody>
      </p:sp>
      <p:sp>
        <p:nvSpPr>
          <p:cNvPr id="162" name="Google Shape;162;p25"/>
          <p:cNvSpPr txBox="1"/>
          <p:nvPr>
            <p:ph type="body" idx="1"/>
          </p:nvPr>
        </p:nvSpPr>
        <p:spPr>
          <a:xfrm>
            <a:off x="729325" y="2078875"/>
            <a:ext cx="3774300" cy="2261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a:t>1. An online communication platform should be added for clients to communicate with freelancers, for example, via video calls</a:t>
            </a:r>
            <a:r>
              <a:rPr lang="en-US" altLang="en-GB"/>
              <a:t> or inApp messaging.</a:t>
            </a:r>
            <a:r>
              <a:rPr lang="en-GB"/>
              <a:t> </a:t>
            </a:r>
            <a:endParaRPr lang="en-GB"/>
          </a:p>
          <a:p>
            <a:pPr marL="0" lvl="0" indent="0" algn="l" rtl="0">
              <a:spcBef>
                <a:spcPts val="1200"/>
              </a:spcBef>
              <a:spcAft>
                <a:spcPts val="0"/>
              </a:spcAft>
              <a:buNone/>
            </a:pPr>
            <a:r>
              <a:rPr lang="en-GB"/>
              <a:t>2. Improve the User Experience by </a:t>
            </a:r>
            <a:r>
              <a:rPr lang="en-US" altLang="en-GB"/>
              <a:t>creating a seamless omnichannel for Mobile and other devices</a:t>
            </a:r>
            <a:endParaRPr lang="en-US" altLang="en-GB"/>
          </a:p>
          <a:p>
            <a:pPr marL="0" lvl="0" indent="0" algn="l" rtl="0">
              <a:spcBef>
                <a:spcPts val="1200"/>
              </a:spcBef>
              <a:spcAft>
                <a:spcPts val="0"/>
              </a:spcAft>
              <a:buNone/>
            </a:pPr>
            <a:r>
              <a:rPr lang="en-GB"/>
              <a:t>3. More payment systems should be added to allow for a better reach. </a:t>
            </a:r>
            <a:endParaRPr lang="en-GB"/>
          </a:p>
          <a:p>
            <a:pPr marL="0" lvl="0" indent="0" algn="l" rtl="0">
              <a:spcBef>
                <a:spcPts val="1200"/>
              </a:spcBef>
              <a:spcAft>
                <a:spcPts val="1200"/>
              </a:spcAft>
              <a:buNone/>
            </a:pPr>
            <a:r>
              <a:rPr lang="en-GB"/>
              <a:t>4. The system should be expanded to be used outside Kenya and Africa. </a:t>
            </a:r>
            <a:endParaRPr lang="en-GB"/>
          </a:p>
        </p:txBody>
      </p:sp>
      <p:sp>
        <p:nvSpPr>
          <p:cNvPr id="163" name="Google Shape;163;p25"/>
          <p:cNvSpPr txBox="1"/>
          <p:nvPr>
            <p:ph type="body" idx="2"/>
          </p:nvPr>
        </p:nvSpPr>
        <p:spPr>
          <a:xfrm>
            <a:off x="4643600" y="2078875"/>
            <a:ext cx="3774300" cy="284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5. Add a facial recognition system to for users to verify that they are the ones on the national ID documents they submitted. </a:t>
            </a:r>
            <a:endParaRPr lang="en-GB"/>
          </a:p>
          <a:p>
            <a:pPr marL="0" lvl="0" indent="0" algn="l" rtl="0">
              <a:spcBef>
                <a:spcPts val="1200"/>
              </a:spcBef>
              <a:spcAft>
                <a:spcPts val="0"/>
              </a:spcAft>
              <a:buNone/>
            </a:pPr>
            <a:r>
              <a:rPr lang="en-US"/>
              <a:t>6</a:t>
            </a:r>
            <a:r>
              <a:rPr lang="en-GB"/>
              <a:t>. Add a translation of the site to Kiswahili and French to access more users in Kenya and Africa.</a:t>
            </a:r>
            <a:endParaRPr lang="en-GB"/>
          </a:p>
          <a:p>
            <a:pPr marL="0" lvl="0" indent="0" algn="l" rtl="0">
              <a:spcBef>
                <a:spcPts val="1200"/>
              </a:spcBef>
              <a:spcAft>
                <a:spcPts val="1200"/>
              </a:spcAft>
              <a:buNone/>
            </a:pPr>
            <a:r>
              <a:rPr lang="en-US"/>
              <a:t>7. Add internal HR System to help manage employees onboarding, leave management and payrolls.</a:t>
            </a:r>
            <a:endParaRPr lang="en-US"/>
          </a:p>
          <a:p>
            <a:pPr marL="0" lvl="0" indent="0" algn="l" rtl="0">
              <a:spcBef>
                <a:spcPts val="1200"/>
              </a:spcBef>
              <a:spcAft>
                <a:spcPts val="1200"/>
              </a:spcAft>
              <a:buNone/>
            </a:pPr>
            <a:r>
              <a:rPr lang="en-US"/>
              <a:t>8. Offer scalable Cloud-native hosting</a:t>
            </a:r>
            <a:endParaRPr lang="en-US"/>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5168</Words>
  <Application>WPS Presentation</Application>
  <PresentationFormat/>
  <Paragraphs>94</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Arial</vt:lpstr>
      <vt:lpstr>Nimbus Roman No9 L</vt:lpstr>
      <vt:lpstr>Raleway</vt:lpstr>
      <vt:lpstr>Gubbi</vt:lpstr>
      <vt:lpstr>Lato</vt:lpstr>
      <vt:lpstr>Microsoft YaHei</vt:lpstr>
      <vt:lpstr>Droid Sans Fallback</vt:lpstr>
      <vt:lpstr>Arial Unicode MS</vt:lpstr>
      <vt:lpstr>OpenSymbol</vt:lpstr>
      <vt:lpstr>Streamline</vt:lpstr>
      <vt:lpstr>A Kenyan Online Freelance Marketplace</vt:lpstr>
      <vt:lpstr>PowerPoint 演示文稿</vt:lpstr>
      <vt:lpstr>PowerPoint 演示文稿</vt:lpstr>
      <vt:lpstr>1. Background of research</vt:lpstr>
      <vt:lpstr>2. Problem statement</vt:lpstr>
      <vt:lpstr>3. Aim of research</vt:lpstr>
      <vt:lpstr>4. Scope of the research</vt:lpstr>
      <vt:lpstr>5. Research methodology</vt:lpstr>
      <vt:lpstr>6. Review of related work</vt:lpstr>
      <vt:lpstr>PowerPoint 演示文稿</vt:lpstr>
      <vt:lpstr>7. Database Design</vt:lpstr>
      <vt:lpstr>PowerPoint 演示文稿</vt:lpstr>
      <vt:lpstr>9. Conclusion</vt:lpstr>
      <vt:lpstr>10. Future 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Kenyan Online Freelance Marketplace</dc:title>
  <dc:creator/>
  <cp:lastModifiedBy>qodestackrd</cp:lastModifiedBy>
  <cp:revision>9</cp:revision>
  <dcterms:created xsi:type="dcterms:W3CDTF">2022-11-24T10:52:09Z</dcterms:created>
  <dcterms:modified xsi:type="dcterms:W3CDTF">2022-11-24T10:52:09Z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1033-11.1.0.10920</vt:lpwstr>
  </property>
</Properties>
</file>